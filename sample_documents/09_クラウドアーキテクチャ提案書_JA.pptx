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本提案書は、来期の基幹システム刷新に向けたクラウドアーキテクチャの基本設計方針をまとめたものです。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各コンポーネントはAWSのマネージドサービスを標準とし、ダウンタイムゼロの無停止運用を目指します。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図中のセキュリティゾーン、ロードバランサー、コンテナクラスター、データベースクラスタの連携フローを確認してください。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承認規程に従い、本提案書の承認後は来月より検証環境の構築に着手する予定です。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185A9D"/>
          </a:solidFill>
          <a:ln>
            <a:solidFill>
              <a:srgbClr val="185A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94484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02A4D"/>
                </a:solidFill>
                <a:latin typeface="MS Gothic"/>
              </a:defRPr>
            </a:pPr>
            <a:r>
              <a:t>クラウド基盤アーキテクチャ提案書</a:t>
            </a:r>
          </a:p>
          <a:p>
            <a:pPr>
              <a:spcBef>
                <a:spcPts val="1400"/>
              </a:spcBef>
              <a:defRPr sz="2200">
                <a:solidFill>
                  <a:srgbClr val="185A9D"/>
                </a:solidFill>
                <a:latin typeface="MS Gothic"/>
              </a:defRPr>
            </a:pPr>
            <a:r>
              <a:t>次世代エンタープライズ・ゼロトラスト＆高可用性設計</a:t>
            </a:r>
          </a:p>
          <a:p>
            <a:pPr>
              <a:spcBef>
                <a:spcPts val="2400"/>
              </a:spcBef>
              <a:defRPr sz="1400">
                <a:solidFill>
                  <a:srgbClr val="78828C"/>
                </a:solidFill>
                <a:latin typeface="MS Gothic"/>
              </a:defRPr>
            </a:pPr>
            <a:r>
              <a:t>作成日: 2026年9月 | システムアーキテクチャ推進室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02A4D"/>
                </a:solidFill>
                <a:latin typeface="MS Gothic"/>
              </a:defRPr>
            </a:pPr>
            <a:r>
              <a:t>エグゼクティブサマリー &amp; システム要件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12529"/>
                </a:solidFill>
                <a:latin typeface="MS Gothic"/>
              </a:defRPr>
            </a:pPr>
            <a:r>
              <a:t>・マルチAZ構成による99.99%のサービス可用性の確保と自動フェイルオーバーの実現</a:t>
            </a:r>
          </a:p>
          <a:p>
            <a:pPr>
              <a:spcBef>
                <a:spcPts val="800"/>
              </a:spcBef>
              <a:defRPr sz="1500">
                <a:solidFill>
                  <a:srgbClr val="212529"/>
                </a:solidFill>
                <a:latin typeface="MS Gothic"/>
              </a:defRPr>
            </a:pPr>
            <a:r>
              <a:t>・エンドツーエンド暗号化とゼロトラストネットワークアクセス（ZTNA）の適用</a:t>
            </a:r>
          </a:p>
          <a:p>
            <a:pPr>
              <a:spcBef>
                <a:spcPts val="800"/>
              </a:spcBef>
              <a:defRPr sz="1500">
                <a:solidFill>
                  <a:srgbClr val="212529"/>
                </a:solidFill>
                <a:latin typeface="MS Gothic"/>
              </a:defRPr>
            </a:pPr>
            <a:r>
              <a:t>・自動スケーリングおよびサーバレスAPI連携によるインフラ運用コストの最適化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2926080"/>
          <a:ext cx="1069848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4620"/>
                <a:gridCol w="2674620"/>
                <a:gridCol w="2674620"/>
                <a:gridCol w="2674620"/>
              </a:tblGrid>
              <a:tr h="64008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MS Gothic"/>
                        </a:defRPr>
                      </a:pPr>
                      <a:r>
                        <a:t>コンポーネント</a:t>
                      </a:r>
                    </a:p>
                  </a:txBody>
                  <a:tcPr>
                    <a:solidFill>
                      <a:srgbClr val="102A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MS Gothic"/>
                        </a:defRPr>
                      </a:pPr>
                      <a:r>
                        <a:t>採用技術・仕様</a:t>
                      </a:r>
                    </a:p>
                  </a:txBody>
                  <a:tcPr>
                    <a:solidFill>
                      <a:srgbClr val="102A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MS Gothic"/>
                        </a:defRPr>
                      </a:pPr>
                      <a:r>
                        <a:t>主要機能・役割</a:t>
                      </a:r>
                    </a:p>
                  </a:txBody>
                  <a:tcPr>
                    <a:solidFill>
                      <a:srgbClr val="102A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MS Gothic"/>
                        </a:defRPr>
                      </a:pPr>
                      <a:r>
                        <a:t>可用性・SLA</a:t>
                      </a:r>
                    </a:p>
                  </a:txBody>
                  <a:tcPr>
                    <a:solidFill>
                      <a:srgbClr val="102A4D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12529"/>
                          </a:solidFill>
                          <a:latin typeface="MS Gothic"/>
                        </a:defRPr>
                      </a:pPr>
                      <a:r>
                        <a:t>エッジ / CDN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12529"/>
                          </a:solidFill>
                          <a:latin typeface="MS Gothic"/>
                        </a:defRPr>
                      </a:pPr>
                      <a:r>
                        <a:t>CloudFront / WAF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12529"/>
                          </a:solidFill>
                          <a:latin typeface="MS Gothic"/>
                        </a:defRPr>
                      </a:pPr>
                      <a:r>
                        <a:t>DDoS防御およびグローバルコンテンツ配信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12529"/>
                          </a:solidFill>
                          <a:latin typeface="MS Gothic"/>
                        </a:defRPr>
                      </a:pPr>
                      <a:r>
                        <a:t>99.99%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12529"/>
                          </a:solidFill>
                          <a:latin typeface="MS Gothic"/>
                        </a:defRPr>
                      </a:pPr>
                      <a:r>
                        <a:t>フロントエンド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12529"/>
                          </a:solidFill>
                          <a:latin typeface="MS Gothic"/>
                        </a:defRPr>
                      </a:pPr>
                      <a:r>
                        <a:t>Next.js / S3 静的ホスティング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12529"/>
                          </a:solidFill>
                          <a:latin typeface="MS Gothic"/>
                        </a:defRPr>
                      </a:pPr>
                      <a:r>
                        <a:t>SSR対応ウェブポータルおよびSPA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12529"/>
                          </a:solidFill>
                          <a:latin typeface="MS Gothic"/>
                        </a:defRPr>
                      </a:pPr>
                      <a:r>
                        <a:t>99.95%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12529"/>
                          </a:solidFill>
                          <a:latin typeface="MS Gothic"/>
                        </a:defRPr>
                      </a:pPr>
                      <a:r>
                        <a:t>バックエンドAPI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12529"/>
                          </a:solidFill>
                          <a:latin typeface="MS Gothic"/>
                        </a:defRPr>
                      </a:pPr>
                      <a:r>
                        <a:t>ECS Fargate / FastAPI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12529"/>
                          </a:solidFill>
                          <a:latin typeface="MS Gothic"/>
                        </a:defRPr>
                      </a:pPr>
                      <a:r>
                        <a:t>マイクロサービスコンテナ群の自動スケーリング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12529"/>
                          </a:solidFill>
                          <a:latin typeface="MS Gothic"/>
                        </a:defRPr>
                      </a:pPr>
                      <a:r>
                        <a:t>99.99%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12529"/>
                          </a:solidFill>
                          <a:latin typeface="MS Gothic"/>
                        </a:defRPr>
                      </a:pPr>
                      <a:r>
                        <a:t>データベース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12529"/>
                          </a:solidFill>
                          <a:latin typeface="MS Gothic"/>
                        </a:defRPr>
                      </a:pPr>
                      <a:r>
                        <a:t>Aurora Serverless v2 PostgreSQL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12529"/>
                          </a:solidFill>
                          <a:latin typeface="MS Gothic"/>
                        </a:defRPr>
                      </a:pPr>
                      <a:r>
                        <a:t>マルチAZ自動レプリケーション＆高速フェイルオーバー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12529"/>
                          </a:solidFill>
                          <a:latin typeface="MS Gothic"/>
                        </a:defRPr>
                      </a:pPr>
                      <a:r>
                        <a:t>99.999%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02A4D"/>
                </a:solidFill>
                <a:latin typeface="MS Gothic"/>
              </a:defRPr>
            </a:pPr>
            <a:r>
              <a:t>システム構成図（全体アーキテクチャ）</a:t>
            </a:r>
          </a:p>
        </p:txBody>
      </p:sp>
      <p:pic>
        <p:nvPicPr>
          <p:cNvPr id="3" name="Picture 2" descr="cloud_arch_ja_extra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71600"/>
            <a:ext cx="9448495" cy="513505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02A4D"/>
                </a:solidFill>
                <a:latin typeface="MS Gothic"/>
              </a:defRPr>
            </a:pPr>
            <a:r>
              <a:t>運用保守方針と決裁フロー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85A9D"/>
                </a:solidFill>
                <a:latin typeface="MS Gothic"/>
              </a:defRPr>
            </a:pPr>
            <a:r>
              <a:t>【監視・障害検知体制】</a:t>
            </a:r>
          </a:p>
          <a:p>
            <a:pPr>
              <a:spcBef>
                <a:spcPts val="400"/>
              </a:spcBef>
              <a:defRPr sz="1400">
                <a:solidFill>
                  <a:srgbClr val="212529"/>
                </a:solidFill>
                <a:latin typeface="MS Gothic"/>
              </a:defRPr>
            </a:pPr>
            <a:r>
              <a:t>CloudWatchアラームおよびDatadogを連携し、24時間365日の自動監視体制を確立します。異常検知時には直ちにオンコール担当者へ通知されます。</a:t>
            </a:r>
          </a:p>
          <a:p>
            <a:pPr>
              <a:spcBef>
                <a:spcPts val="1400"/>
              </a:spcBef>
              <a:defRPr sz="1600" b="1">
                <a:solidFill>
                  <a:srgbClr val="185A9D"/>
                </a:solidFill>
                <a:latin typeface="MS Gothic"/>
              </a:defRPr>
            </a:pPr>
            <a:r>
              <a:t>【バックアップ＆リカバリ方針】</a:t>
            </a:r>
          </a:p>
          <a:p>
            <a:pPr>
              <a:spcBef>
                <a:spcPts val="400"/>
              </a:spcBef>
              <a:defRPr sz="1400">
                <a:solidFill>
                  <a:srgbClr val="212529"/>
                </a:solidFill>
                <a:latin typeface="MS Gothic"/>
              </a:defRPr>
            </a:pPr>
            <a:r>
              <a:t>データスナップショットを日次で自動取得し、別リージョン（大阪リージョン）へ複製保管します。目標復旧時間（RTO）は15分以内、目標復旧時点（RPO）は5分以内です。</a:t>
            </a:r>
          </a:p>
          <a:p>
            <a:pPr>
              <a:spcBef>
                <a:spcPts val="1400"/>
              </a:spcBef>
              <a:defRPr sz="1600" b="1">
                <a:solidFill>
                  <a:srgbClr val="185A9D"/>
                </a:solidFill>
                <a:latin typeface="MS Gothic"/>
              </a:defRPr>
            </a:pPr>
            <a:r>
              <a:t>【社内決裁および変更管理基準】</a:t>
            </a:r>
          </a:p>
          <a:p>
            <a:pPr>
              <a:spcBef>
                <a:spcPts val="400"/>
              </a:spcBef>
              <a:defRPr sz="1400">
                <a:solidFill>
                  <a:srgbClr val="212529"/>
                </a:solidFill>
                <a:latin typeface="MS Gothic"/>
              </a:defRPr>
            </a:pPr>
            <a:r>
              <a:t>月額ランニングコストが50万円を超えるインフラ構成変更は取締役会承認を必須とし、それ未満は部門長承認で迅速に適用可能です。</a:t>
            </a:r>
          </a:p>
          <a:p>
            <a:pPr>
              <a:spcBef>
                <a:spcPts val="1400"/>
              </a:spcBef>
              <a:defRPr sz="1600" b="1">
                <a:solidFill>
                  <a:srgbClr val="185A9D"/>
                </a:solidFill>
                <a:latin typeface="MS Gothic"/>
              </a:defRPr>
            </a:pPr>
            <a:r>
              <a:t>【セキュリティ監査とコンプライアンス】</a:t>
            </a:r>
          </a:p>
          <a:p>
            <a:pPr>
              <a:spcBef>
                <a:spcPts val="400"/>
              </a:spcBef>
              <a:defRPr sz="1400">
                <a:solidFill>
                  <a:srgbClr val="212529"/>
                </a:solidFill>
                <a:latin typeface="MS Gothic"/>
              </a:defRPr>
            </a:pPr>
            <a:r>
              <a:t>四半期ごとの脆弱性診断およびSOC2 Type2基準に準拠した証跡ログの永久アーカイブを実施します。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