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Tài liệu đề xuất này tổng hợp các phương châm thiết kế cơ bản cho kiến trúc đám mây nhằm phục vụ việc đổi mới hệ thống cốt lõi trong kỳ tới.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Mỗi thành phần đều dựa trên các dịch vụ được quản lý của AWS làm tiêu chuẩn, hướng tới mục tiêu vận hành không gián đoạn với thời gian chết bằng không.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Vui lòng kiểm tra luồng phối hợp giữa vùng bảo mật, bộ cân bằng tải, cụm container và cụm cơ sở dữ liệu trong hình.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Tuân theo quy định phê duyệt, sau khi đề xuất này được thông qua, chúng tôi dự kiến sẽ bắt đầu xây dựng môi trường kiểm thử từ tháng sau.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185A9D"/>
          </a:solidFill>
          <a:ln>
            <a:solidFill>
              <a:srgbClr val="185A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011680"/>
            <a:ext cx="9448495" cy="1828800"/>
          </a:xfrm>
          <a:prstGeom prst="rect">
            <a:avLst/>
          </a:prstGeom>
          <a:noFill/>
        </p:spPr>
        <p:txBody>
          <a:bodyPr wrap="square">
            <a:spAutoFit/>
          </a:bodyPr>
          <a:lstStyle/>
          <a:p>
            <a:pPr>
              <a:defRPr sz="3600" b="1">
                <a:solidFill>
                  <a:srgbClr val="102A4D"/>
                </a:solidFill>
                <a:latin typeface="MS Gothic"/>
              </a:defRPr>
            </a:pPr>
            <a:r>
              <a:rPr>
                <a:latin typeface="Arial"/>
              </a:rPr>
              <a:t>Đề xuất kiến trúc nền tảng đám mây</a:t>
            </a:r>
          </a:p>
          <a:p>
            <a:pPr>
              <a:spcBef>
                <a:spcPts val="1400"/>
              </a:spcBef>
              <a:defRPr sz="1980">
                <a:solidFill>
                  <a:srgbClr val="185A9D"/>
                </a:solidFill>
                <a:latin typeface="MS Gothic"/>
              </a:defRPr>
            </a:pPr>
            <a:r>
              <a:rPr>
                <a:latin typeface="Arial"/>
              </a:rPr>
              <a:t>Thiết kế Zero Trust doanh nghiệp thế hệ mới &amp; tính sẵn sàng cao</a:t>
            </a:r>
          </a:p>
          <a:p>
            <a:pPr>
              <a:spcBef>
                <a:spcPts val="2400"/>
              </a:spcBef>
              <a:defRPr sz="1260">
                <a:solidFill>
                  <a:srgbClr val="78828C"/>
                </a:solidFill>
                <a:latin typeface="MS Gothic"/>
              </a:defRPr>
            </a:pPr>
            <a:r>
              <a:rPr>
                <a:latin typeface="Arial"/>
              </a:rPr>
              <a:t>Ngày lập: Tháng 9 năm 2026 | Phòng thúc đẩy kiến trúc hệ thống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731520"/>
          </a:xfrm>
          <a:prstGeom prst="rect">
            <a:avLst/>
          </a:prstGeom>
          <a:noFill/>
        </p:spPr>
        <p:txBody>
          <a:bodyPr wrap="none">
            <a:spAutoFit/>
          </a:bodyPr>
          <a:lstStyle/>
          <a:p>
            <a:pPr>
              <a:defRPr sz="2340" b="1">
                <a:solidFill>
                  <a:srgbClr val="102A4D"/>
                </a:solidFill>
                <a:latin typeface="MS Gothic"/>
              </a:defRPr>
            </a:pPr>
            <a:r>
              <a:rPr>
                <a:latin typeface="Arial"/>
              </a:rPr>
              <a:t>Tóm tắt điều hành &amp; Yêu cầu hệ thống</a:t>
            </a:r>
          </a:p>
        </p:txBody>
      </p:sp>
      <p:sp>
        <p:nvSpPr>
          <p:cNvPr id="3" name="TextBox 2"/>
          <p:cNvSpPr txBox="1"/>
          <p:nvPr/>
        </p:nvSpPr>
        <p:spPr>
          <a:xfrm>
            <a:off x="731520" y="1280160"/>
            <a:ext cx="10698480" cy="1371600"/>
          </a:xfrm>
          <a:prstGeom prst="rect">
            <a:avLst/>
          </a:prstGeom>
          <a:noFill/>
        </p:spPr>
        <p:txBody>
          <a:bodyPr wrap="square">
            <a:spAutoFit/>
          </a:bodyPr>
          <a:lstStyle/>
          <a:p>
            <a:pPr>
              <a:defRPr sz="1350">
                <a:solidFill>
                  <a:srgbClr val="212529"/>
                </a:solidFill>
                <a:latin typeface="MS Gothic"/>
              </a:defRPr>
            </a:pPr>
            <a:r>
              <a:rPr>
                <a:latin typeface="Arial"/>
              </a:rPr>
              <a:t>• Đảm bảo tính sẵn sàng dịch vụ 99,99% thông qua cấu hình Multi-AZ và hiện thực hóa tính năng tự động chuyển đổi dự phòng (failover)</a:t>
            </a:r>
          </a:p>
          <a:p>
            <a:pPr>
              <a:spcBef>
                <a:spcPts val="800"/>
              </a:spcBef>
              <a:defRPr sz="1350">
                <a:solidFill>
                  <a:srgbClr val="212529"/>
                </a:solidFill>
                <a:latin typeface="MS Gothic"/>
              </a:defRPr>
            </a:pPr>
            <a:r>
              <a:rPr>
                <a:latin typeface="Arial"/>
              </a:rPr>
              <a:t>• Áp dụng mã hóa đầu cuối và truy cập mạng Zero Trust (ZTNA)</a:t>
            </a:r>
          </a:p>
          <a:p>
            <a:pPr>
              <a:spcBef>
                <a:spcPts val="800"/>
              </a:spcBef>
              <a:defRPr sz="1350">
                <a:solidFill>
                  <a:srgbClr val="212529"/>
                </a:solidFill>
                <a:latin typeface="MS Gothic"/>
              </a:defRPr>
            </a:pPr>
            <a:r>
              <a:rPr>
                <a:latin typeface="Arial"/>
              </a:rPr>
              <a:t>• Tối ưu hóa chi phí vận hành hạ tầng thông qua tự động mở rộng (auto-scaling) và tích hợp API serverless</a:t>
            </a:r>
          </a:p>
        </p:txBody>
      </p:sp>
      <p:graphicFrame>
        <p:nvGraphicFramePr>
          <p:cNvPr id="4" name="Table 3"/>
          <p:cNvGraphicFramePr>
            <a:graphicFrameLocks noGrp="1"/>
          </p:cNvGraphicFramePr>
          <p:nvPr/>
        </p:nvGraphicFramePr>
        <p:xfrm>
          <a:off x="731520" y="2926080"/>
          <a:ext cx="10698480" cy="3200400"/>
        </p:xfrm>
        <a:graphic>
          <a:graphicData uri="http://schemas.openxmlformats.org/drawingml/2006/table">
            <a:tbl>
              <a:tblPr firstRow="1" bandRow="1">
                <a:tableStyleId>{5C22544A-7EE6-4342-B048-85BDC9FD1C3A}</a:tableStyleId>
              </a:tblPr>
              <a:tblGrid>
                <a:gridCol w="2674620"/>
                <a:gridCol w="2674620"/>
                <a:gridCol w="2674620"/>
                <a:gridCol w="2674620"/>
              </a:tblGrid>
              <a:tr h="640080">
                <a:tc>
                  <a:txBody>
                    <a:bodyPr/>
                    <a:lstStyle/>
                    <a:p>
                      <a:r>
                        <a:rPr>
                          <a:latin typeface="Arial"/>
                        </a:rPr>
                        <a:t>Thành phần</a:t>
                      </a:r>
                    </a:p>
                  </a:txBody>
                  <a:tcPr>
                    <a:solidFill>
                      <a:srgbClr val="102A4D"/>
                    </a:solidFill>
                  </a:tcPr>
                </a:tc>
                <a:tc>
                  <a:txBody>
                    <a:bodyPr/>
                    <a:lstStyle/>
                    <a:p>
                      <a:r>
                        <a:rPr>
                          <a:latin typeface="Arial"/>
                        </a:rPr>
                        <a:t>Công nghệ áp dụng/Thông số kỹ thuật</a:t>
                      </a:r>
                    </a:p>
                  </a:txBody>
                  <a:tcPr>
                    <a:solidFill>
                      <a:srgbClr val="102A4D"/>
                    </a:solidFill>
                  </a:tcPr>
                </a:tc>
                <a:tc>
                  <a:txBody>
                    <a:bodyPr/>
                    <a:lstStyle/>
                    <a:p>
                      <a:r>
                        <a:rPr>
                          <a:latin typeface="Arial"/>
                        </a:rPr>
                        <a:t>Chức năng chính/Vai trò</a:t>
                      </a:r>
                    </a:p>
                  </a:txBody>
                  <a:tcPr>
                    <a:solidFill>
                      <a:srgbClr val="102A4D"/>
                    </a:solidFill>
                  </a:tcPr>
                </a:tc>
                <a:tc>
                  <a:txBody>
                    <a:bodyPr/>
                    <a:lstStyle/>
                    <a:p>
                      <a:r>
                        <a:rPr>
                          <a:latin typeface="Arial"/>
                        </a:rPr>
                        <a:t>Tính sẵn sàng/SLA</a:t>
                      </a:r>
                    </a:p>
                  </a:txBody>
                  <a:tcPr>
                    <a:solidFill>
                      <a:srgbClr val="102A4D"/>
                    </a:solidFill>
                  </a:tcPr>
                </a:tc>
              </a:tr>
              <a:tr h="640080">
                <a:tc>
                  <a:txBody>
                    <a:bodyPr/>
                    <a:lstStyle/>
                    <a:p>
                      <a:r>
                        <a:rPr>
                          <a:latin typeface="Arial"/>
                        </a:rPr>
                        <a:t>Edge / CDN</a:t>
                      </a:r>
                    </a:p>
                  </a:txBody>
                  <a:tcPr>
                    <a:solidFill>
                      <a:srgbClr val="FFFFFF"/>
                    </a:solidFill>
                  </a:tcPr>
                </a:tc>
                <a:tc>
                  <a:txBody>
                    <a:bodyPr/>
                    <a:lstStyle/>
                    <a:p>
                      <a:r>
                        <a:rPr>
                          <a:latin typeface="Arial"/>
                        </a:rPr>
                        <a:t>CloudFront / WAF</a:t>
                      </a:r>
                    </a:p>
                  </a:txBody>
                  <a:tcPr>
                    <a:solidFill>
                      <a:srgbClr val="FFFFFF"/>
                    </a:solidFill>
                  </a:tcPr>
                </a:tc>
                <a:tc>
                  <a:txBody>
                    <a:bodyPr/>
                    <a:lstStyle/>
                    <a:p>
                      <a:r>
                        <a:rPr>
                          <a:latin typeface="Arial"/>
                        </a:rPr>
                        <a:t>Phòng chống DDoS và phân phối nội dung toàn cầu</a:t>
                      </a:r>
                    </a:p>
                  </a:txBody>
                  <a:tcPr>
                    <a:solidFill>
                      <a:srgbClr val="FFFFFF"/>
                    </a:solidFill>
                  </a:tcPr>
                </a:tc>
                <a:tc>
                  <a:txBody>
                    <a:bodyPr/>
                    <a:lstStyle/>
                    <a:p>
                      <a:r>
                        <a:rPr>
                          <a:latin typeface="Arial"/>
                        </a:rPr>
                        <a:t>99.99%</a:t>
                      </a:r>
                    </a:p>
                  </a:txBody>
                  <a:tcPr>
                    <a:solidFill>
                      <a:srgbClr val="FFFFFF"/>
                    </a:solidFill>
                  </a:tcPr>
                </a:tc>
              </a:tr>
              <a:tr h="640080">
                <a:tc>
                  <a:txBody>
                    <a:bodyPr/>
                    <a:lstStyle/>
                    <a:p>
                      <a:r>
                        <a:rPr>
                          <a:latin typeface="Arial"/>
                        </a:rPr>
                        <a:t>Frontend</a:t>
                      </a:r>
                    </a:p>
                  </a:txBody>
                  <a:tcPr>
                    <a:solidFill>
                      <a:srgbClr val="F5F7FA"/>
                    </a:solidFill>
                  </a:tcPr>
                </a:tc>
                <a:tc>
                  <a:txBody>
                    <a:bodyPr/>
                    <a:lstStyle/>
                    <a:p>
                      <a:r>
                        <a:rPr>
                          <a:latin typeface="Arial"/>
                        </a:rPr>
                        <a:t>Next.js / Lưu trữ tĩnh S3</a:t>
                      </a:r>
                    </a:p>
                  </a:txBody>
                  <a:tcPr>
                    <a:solidFill>
                      <a:srgbClr val="F5F7FA"/>
                    </a:solidFill>
                  </a:tcPr>
                </a:tc>
                <a:tc>
                  <a:txBody>
                    <a:bodyPr/>
                    <a:lstStyle/>
                    <a:p>
                      <a:r>
                        <a:rPr>
                          <a:latin typeface="Arial"/>
                        </a:rPr>
                        <a:t>Cổng thông tin web hỗ trợ SSR và SPA</a:t>
                      </a:r>
                    </a:p>
                  </a:txBody>
                  <a:tcPr>
                    <a:solidFill>
                      <a:srgbClr val="F5F7FA"/>
                    </a:solidFill>
                  </a:tcPr>
                </a:tc>
                <a:tc>
                  <a:txBody>
                    <a:bodyPr/>
                    <a:lstStyle/>
                    <a:p>
                      <a:r>
                        <a:rPr>
                          <a:latin typeface="Arial"/>
                        </a:rPr>
                        <a:t>99.95%</a:t>
                      </a:r>
                    </a:p>
                  </a:txBody>
                  <a:tcPr>
                    <a:solidFill>
                      <a:srgbClr val="F5F7FA"/>
                    </a:solidFill>
                  </a:tcPr>
                </a:tc>
              </a:tr>
              <a:tr h="640080">
                <a:tc>
                  <a:txBody>
                    <a:bodyPr/>
                    <a:lstStyle/>
                    <a:p>
                      <a:r>
                        <a:rPr>
                          <a:latin typeface="Arial"/>
                        </a:rPr>
                        <a:t>Backend API</a:t>
                      </a:r>
                    </a:p>
                  </a:txBody>
                  <a:tcPr>
                    <a:solidFill>
                      <a:srgbClr val="FFFFFF"/>
                    </a:solidFill>
                  </a:tcPr>
                </a:tc>
                <a:tc>
                  <a:txBody>
                    <a:bodyPr/>
                    <a:lstStyle/>
                    <a:p>
                      <a:r>
                        <a:rPr>
                          <a:latin typeface="Arial"/>
                        </a:rPr>
                        <a:t>ECS Fargate / FastAPI</a:t>
                      </a:r>
                    </a:p>
                  </a:txBody>
                  <a:tcPr>
                    <a:solidFill>
                      <a:srgbClr val="FFFFFF"/>
                    </a:solidFill>
                  </a:tcPr>
                </a:tc>
                <a:tc>
                  <a:txBody>
                    <a:bodyPr/>
                    <a:lstStyle/>
                    <a:p>
                      <a:r>
                        <a:rPr>
                          <a:latin typeface="Arial"/>
                        </a:rPr>
                        <a:t>Tự động mở rộng quy mô nhóm container microservices</a:t>
                      </a:r>
                    </a:p>
                  </a:txBody>
                  <a:tcPr>
                    <a:solidFill>
                      <a:srgbClr val="FFFFFF"/>
                    </a:solidFill>
                  </a:tcPr>
                </a:tc>
                <a:tc>
                  <a:txBody>
                    <a:bodyPr/>
                    <a:lstStyle/>
                    <a:p>
                      <a:r>
                        <a:rPr>
                          <a:latin typeface="Arial"/>
                        </a:rPr>
                        <a:t>99.99%</a:t>
                      </a:r>
                    </a:p>
                  </a:txBody>
                  <a:tcPr>
                    <a:solidFill>
                      <a:srgbClr val="FFFFFF"/>
                    </a:solidFill>
                  </a:tcPr>
                </a:tc>
              </a:tr>
              <a:tr h="640080">
                <a:tc>
                  <a:txBody>
                    <a:bodyPr/>
                    <a:lstStyle/>
                    <a:p>
                      <a:r>
                        <a:rPr>
                          <a:latin typeface="Arial"/>
                        </a:rPr>
                        <a:t>Cơ sở dữ liệu</a:t>
                      </a:r>
                    </a:p>
                  </a:txBody>
                  <a:tcPr>
                    <a:solidFill>
                      <a:srgbClr val="F5F7FA"/>
                    </a:solidFill>
                  </a:tcPr>
                </a:tc>
                <a:tc>
                  <a:txBody>
                    <a:bodyPr/>
                    <a:lstStyle/>
                    <a:p>
                      <a:r>
                        <a:rPr>
                          <a:latin typeface="Arial"/>
                        </a:rPr>
                        <a:t>Aurora Serverless v2 PostgreSQL</a:t>
                      </a:r>
                    </a:p>
                  </a:txBody>
                  <a:tcPr>
                    <a:solidFill>
                      <a:srgbClr val="F5F7FA"/>
                    </a:solidFill>
                  </a:tcPr>
                </a:tc>
                <a:tc>
                  <a:txBody>
                    <a:bodyPr/>
                    <a:lstStyle/>
                    <a:p>
                      <a:r>
                        <a:rPr>
                          <a:latin typeface="Arial"/>
                        </a:rPr>
                        <a:t>Tự động sao chép đa vùng (Multi-AZ) &amp; chuyển đổi dự phòng tốc độ cao</a:t>
                      </a:r>
                    </a:p>
                  </a:txBody>
                  <a:tcPr>
                    <a:solidFill>
                      <a:srgbClr val="F5F7FA"/>
                    </a:solidFill>
                  </a:tcPr>
                </a:tc>
                <a:tc>
                  <a:txBody>
                    <a:bodyPr/>
                    <a:lstStyle/>
                    <a:p>
                      <a:r>
                        <a:rPr>
                          <a:latin typeface="Arial"/>
                        </a:rPr>
                        <a:t>99,999%</a:t>
                      </a:r>
                    </a:p>
                  </a:txBody>
                  <a:tcPr>
                    <a:solidFill>
                      <a:srgbClr val="F5F7FA"/>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731520"/>
          </a:xfrm>
          <a:prstGeom prst="rect">
            <a:avLst/>
          </a:prstGeom>
          <a:noFill/>
        </p:spPr>
        <p:txBody>
          <a:bodyPr wrap="none">
            <a:spAutoFit/>
          </a:bodyPr>
          <a:lstStyle/>
          <a:p>
            <a:pPr>
              <a:defRPr sz="2340" b="1">
                <a:solidFill>
                  <a:srgbClr val="102A4D"/>
                </a:solidFill>
                <a:latin typeface="MS Gothic"/>
              </a:defRPr>
            </a:pPr>
            <a:r>
              <a:rPr>
                <a:latin typeface="Arial"/>
              </a:rPr>
              <a:t>Sơ đồ cấu hình hệ thống (Kiến trúc tổng thể)</a:t>
            </a:r>
          </a:p>
        </p:txBody>
      </p:sp>
      <p:pic>
        <p:nvPicPr>
          <p:cNvPr id="3" name="Picture 2" descr="cloud_arch_ja_extracted.png"/>
          <p:cNvPicPr>
            <a:picLocks noChangeAspect="1"/>
          </p:cNvPicPr>
          <p:nvPr/>
        </p:nvPicPr>
        <p:blipFill>
          <a:blip r:embed="rId2"/>
          <a:stretch>
            <a:fillRect/>
          </a:stretch>
        </p:blipFill>
        <p:spPr>
          <a:xfrm>
            <a:off x="1371600" y="1371600"/>
            <a:ext cx="9448495" cy="5135052"/>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731520"/>
          </a:xfrm>
          <a:prstGeom prst="rect">
            <a:avLst/>
          </a:prstGeom>
          <a:noFill/>
        </p:spPr>
        <p:txBody>
          <a:bodyPr wrap="none">
            <a:spAutoFit/>
          </a:bodyPr>
          <a:lstStyle/>
          <a:p>
            <a:pPr>
              <a:defRPr sz="2340" b="1">
                <a:solidFill>
                  <a:srgbClr val="102A4D"/>
                </a:solidFill>
                <a:latin typeface="MS Gothic"/>
              </a:defRPr>
            </a:pPr>
            <a:r>
              <a:rPr>
                <a:latin typeface="Arial"/>
              </a:rPr>
              <a:t>Chính sách vận hành bảo trì và quy trình phê duyệt</a:t>
            </a:r>
          </a:p>
        </p:txBody>
      </p:sp>
      <p:sp>
        <p:nvSpPr>
          <p:cNvPr id="3" name="TextBox 2"/>
          <p:cNvSpPr txBox="1"/>
          <p:nvPr/>
        </p:nvSpPr>
        <p:spPr>
          <a:xfrm>
            <a:off x="731520" y="1463040"/>
            <a:ext cx="10698480" cy="4572000"/>
          </a:xfrm>
          <a:prstGeom prst="rect">
            <a:avLst/>
          </a:prstGeom>
          <a:noFill/>
        </p:spPr>
        <p:txBody>
          <a:bodyPr wrap="square">
            <a:spAutoFit/>
          </a:bodyPr>
          <a:lstStyle/>
          <a:p>
            <a:pPr>
              <a:defRPr sz="1440" b="1">
                <a:solidFill>
                  <a:srgbClr val="185A9D"/>
                </a:solidFill>
                <a:latin typeface="MS Gothic"/>
              </a:defRPr>
            </a:pPr>
            <a:r>
              <a:rPr>
                <a:latin typeface="Arial"/>
              </a:rPr>
              <a:t>【Hệ thống giám sát và phát hiện lỗi】</a:t>
            </a:r>
          </a:p>
          <a:p>
            <a:pPr>
              <a:spcBef>
                <a:spcPts val="400"/>
              </a:spcBef>
              <a:defRPr sz="1260">
                <a:solidFill>
                  <a:srgbClr val="212529"/>
                </a:solidFill>
                <a:latin typeface="MS Gothic"/>
              </a:defRPr>
            </a:pPr>
            <a:r>
              <a:rPr>
                <a:latin typeface="Arial"/>
              </a:rPr>
              <a:t>Thiết lập hệ thống giám sát tự động 24/7/365 bằng cách kết hợp CloudWatch Alarm và Datadog. Khi phát hiện bất thường, thông báo sẽ được gửi ngay lập tức đến nhân viên trực.</a:t>
            </a:r>
          </a:p>
          <a:p>
            <a:pPr>
              <a:spcBef>
                <a:spcPts val="1400"/>
              </a:spcBef>
              <a:defRPr sz="1440" b="1">
                <a:solidFill>
                  <a:srgbClr val="185A9D"/>
                </a:solidFill>
                <a:latin typeface="MS Gothic"/>
              </a:defRPr>
            </a:pPr>
            <a:r>
              <a:rPr>
                <a:latin typeface="Arial"/>
              </a:rPr>
              <a:t>【Chính sách sao lưu và phục hồi】</a:t>
            </a:r>
          </a:p>
          <a:p>
            <a:pPr>
              <a:spcBef>
                <a:spcPts val="400"/>
              </a:spcBef>
              <a:defRPr sz="1260">
                <a:solidFill>
                  <a:srgbClr val="212529"/>
                </a:solidFill>
                <a:latin typeface="MS Gothic"/>
              </a:defRPr>
            </a:pPr>
            <a:r>
              <a:rPr>
                <a:latin typeface="Arial"/>
              </a:rPr>
              <a:t>Tự động chụp ảnh nhanh dữ liệu hàng ngày và sao chép lưu trữ sang khu vực khác (Khu vực Osaka). Thời gian phục hồi mục tiêu (RTO) trong vòng 15 phút và điểm phục hồi mục tiêu (RPO) trong vòng 5 phút.</a:t>
            </a:r>
          </a:p>
          <a:p>
            <a:pPr>
              <a:spcBef>
                <a:spcPts val="1400"/>
              </a:spcBef>
              <a:defRPr sz="1440" b="1">
                <a:solidFill>
                  <a:srgbClr val="185A9D"/>
                </a:solidFill>
                <a:latin typeface="MS Gothic"/>
              </a:defRPr>
            </a:pPr>
            <a:r>
              <a:rPr>
                <a:latin typeface="Arial"/>
              </a:rPr>
              <a:t>【Tiêu chuẩn phê duyệt nội bộ và quản lý thay đổi】</a:t>
            </a:r>
          </a:p>
          <a:p>
            <a:pPr>
              <a:spcBef>
                <a:spcPts val="400"/>
              </a:spcBef>
              <a:defRPr sz="1260">
                <a:solidFill>
                  <a:srgbClr val="212529"/>
                </a:solidFill>
                <a:latin typeface="MS Gothic"/>
              </a:defRPr>
            </a:pPr>
            <a:r>
              <a:rPr>
                <a:latin typeface="Arial"/>
              </a:rPr>
              <a:t>Các thay đổi cấu hình hạ tầng có chi phí vận hành hàng tháng vượt quá 500.000 yên bắt buộc phải có sự phê duyệt của Hội đồng quản trị; đối với các thay đổi dưới mức này, có thể áp dụng nhanh chóng với sự phê duyệt của Trưởng bộ phận.</a:t>
            </a:r>
          </a:p>
          <a:p>
            <a:pPr>
              <a:spcBef>
                <a:spcPts val="1400"/>
              </a:spcBef>
              <a:defRPr sz="1440" b="1">
                <a:solidFill>
                  <a:srgbClr val="185A9D"/>
                </a:solidFill>
                <a:latin typeface="MS Gothic"/>
              </a:defRPr>
            </a:pPr>
            <a:r>
              <a:rPr>
                <a:latin typeface="Arial"/>
              </a:rPr>
              <a:t>【Kiểm toán bảo mật và tuân thủ】</a:t>
            </a:r>
          </a:p>
          <a:p>
            <a:pPr>
              <a:spcBef>
                <a:spcPts val="400"/>
              </a:spcBef>
              <a:defRPr sz="1260">
                <a:solidFill>
                  <a:srgbClr val="212529"/>
                </a:solidFill>
                <a:latin typeface="MS Gothic"/>
              </a:defRPr>
            </a:pPr>
            <a:r>
              <a:rPr>
                <a:latin typeface="Arial"/>
              </a:rPr>
              <a:t>Thực hiện chẩn đoán lỗ hổng bảo mật hàng quý và lưu trữ vĩnh viễn nhật ký chứng cứ tuân thủ tiêu chuẩn SOC2 Type2.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